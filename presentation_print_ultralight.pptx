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370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 l="26763" r="26763"/>
          <a:stretch/>
        </p:blipFill>
        <p:spPr>
          <a:xfrm>
            <a:off x="9715500" y="0"/>
            <a:ext cx="85725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143000" y="2743200"/>
            <a:ext cx="8801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125"/>
              <a:buFont typeface="Arial"/>
              <a:buNone/>
            </a:pPr>
            <a:r>
              <a:rPr lang="en-US" sz="2225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МАСТЕР-КЛАСС</a:t>
            </a:r>
            <a:endParaRPr sz="2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386388"/>
            <a:ext cx="88011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ПЕРВЫЙ ШАГ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426618"/>
            <a:ext cx="88011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 АУТЕНТИЧНОСТИ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429250"/>
            <a:ext cx="880110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АРТИСТА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" y="6657975"/>
            <a:ext cx="457200" cy="381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752600" y="6524625"/>
            <a:ext cx="5629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lang="en-US" sz="24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Мария Осадчая · вокальный психолог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2967350" y="3700463"/>
            <a:ext cx="123533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Почему одни выступления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695764" y="4662488"/>
            <a:ext cx="6896323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запоминаются,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038895" y="5624513"/>
            <a:ext cx="6210211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а другие нет?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4249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3330922" y="94011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905000" y="3776662"/>
            <a:ext cx="5715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905000" y="4167188"/>
            <a:ext cx="159258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lang="en-US" sz="7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Аутентичность артиста </a:t>
            </a:r>
            <a:r>
              <a:rPr lang="en-US" sz="7000" b="1">
                <a:solidFill>
                  <a:srgbClr val="1A1A1A"/>
                </a:solidFill>
              </a:rPr>
              <a:t>-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905000" y="5338607"/>
            <a:ext cx="159258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1A1A1A"/>
              </a:buClr>
              <a:buSzPts val="5400"/>
            </a:pPr>
            <a:r>
              <a:rPr lang="en-US" sz="5400" b="1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это</a:t>
            </a:r>
            <a:r>
              <a:rPr lang="en-US" sz="5400" b="1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400" b="1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когда</a:t>
            </a:r>
            <a:r>
              <a:rPr lang="en-US" sz="5400" b="1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400" b="1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совпадают</a:t>
            </a:r>
            <a:r>
              <a:rPr lang="ru-RU" sz="5400" b="1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5400" b="1" i="0" u="none" strike="noStrike" cap="none" dirty="0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три аспекта</a:t>
            </a:r>
            <a:endParaRPr lang="ru-RU"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1333500" y="952500"/>
            <a:ext cx="1718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900"/>
              <a:buFont typeface="Arial"/>
              <a:buNone/>
            </a:pPr>
            <a:r>
              <a:rPr lang="en-US" sz="46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Когда все три аспекта совпадают </a:t>
            </a:r>
            <a:r>
              <a:rPr lang="en-US" sz="4600" b="1">
                <a:solidFill>
                  <a:srgbClr val="1A1A1A"/>
                </a:solidFill>
              </a:rPr>
              <a:t>-</a:t>
            </a:r>
            <a:r>
              <a:rPr lang="en-US" sz="46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6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зритель верит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333500" y="2209800"/>
            <a:ext cx="4902250" cy="5715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1333500" y="2609850"/>
            <a:ext cx="539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333500" y="3678524"/>
            <a:ext cx="5392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ГОЛОС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333500" y="4423348"/>
            <a:ext cx="5392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</a:pPr>
            <a:r>
              <a:rPr lang="en-US"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Интонации, краски, тембр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692950" y="2209800"/>
            <a:ext cx="490225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92950" y="2609850"/>
            <a:ext cx="539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692950" y="3678524"/>
            <a:ext cx="5392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ТЕЛО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692950" y="4423348"/>
            <a:ext cx="5392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</a:pPr>
            <a:r>
              <a:rPr lang="en-US"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Жесты, мимика, поза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2052399" y="2209800"/>
            <a:ext cx="4902250" cy="5715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12052399" y="2609850"/>
            <a:ext cx="539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2052399" y="3678524"/>
            <a:ext cx="5392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ЧУВСТВА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2052400" y="4423348"/>
            <a:ext cx="6235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</a:pPr>
            <a:r>
              <a:rPr lang="en-US"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То, что артист переживает внутри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7" descr="preencoded.png"/>
          <p:cNvPicPr preferRelativeResize="0"/>
          <p:nvPr/>
        </p:nvPicPr>
        <p:blipFill rotWithShape="1">
          <a:blip r:embed="rId3">
            <a:alphaModFix/>
          </a:blip>
          <a:srcRect t="4692" b="4692"/>
          <a:stretch/>
        </p:blipFill>
        <p:spPr>
          <a:xfrm>
            <a:off x="0" y="0"/>
            <a:ext cx="7620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8382000" y="2481263"/>
            <a:ext cx="47625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8382000" y="2745958"/>
            <a:ext cx="100584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500"/>
              <a:buFont typeface="Arial"/>
              <a:buNone/>
            </a:pPr>
            <a:r>
              <a:rPr lang="en-US" sz="56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Зеркальные нейроны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382000" y="3796201"/>
            <a:ext cx="9558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Мозг зрителя буквально «отражает» эмоцию артиста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8382000" y="4738688"/>
            <a:ext cx="9144000" cy="1104900"/>
          </a:xfrm>
          <a:prstGeom prst="rect">
            <a:avLst/>
          </a:prstGeom>
          <a:solidFill>
            <a:srgbClr val="FF2D78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8382000" y="4738688"/>
            <a:ext cx="47625" cy="11049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8734425" y="4771167"/>
            <a:ext cx="933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250"/>
              <a:buFont typeface="Arial"/>
              <a:buNone/>
            </a:pPr>
            <a:r>
              <a:rPr lang="en-US" sz="36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Артист</a:t>
            </a:r>
            <a:endParaRPr sz="3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734425" y="5422927"/>
            <a:ext cx="9335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чувствует по-настоящему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648700" y="6072188"/>
            <a:ext cx="97917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700"/>
              <a:buFont typeface="Arial"/>
              <a:buNone/>
            </a:pPr>
            <a:r>
              <a:rPr lang="en-US" sz="3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8382000" y="6700838"/>
            <a:ext cx="9144000" cy="11049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8382000" y="6700838"/>
            <a:ext cx="47625" cy="1104900"/>
          </a:xfrm>
          <a:prstGeom prst="rect">
            <a:avLst/>
          </a:prstGeom>
          <a:solidFill>
            <a:srgbClr val="1A1A1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8734425" y="6748931"/>
            <a:ext cx="933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Arial"/>
              <a:buNone/>
            </a:pPr>
            <a:r>
              <a:rPr lang="en-US" sz="36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Зритель</a:t>
            </a:r>
            <a:endParaRPr sz="3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8734425" y="7353847"/>
            <a:ext cx="9335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считывает и переживает то же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15479464" y="95916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 descr="preencoded.png"/>
          <p:cNvPicPr preferRelativeResize="0"/>
          <p:nvPr/>
        </p:nvPicPr>
        <p:blipFill rotWithShape="1">
          <a:blip r:embed="rId3">
            <a:alphaModFix/>
          </a:blip>
          <a:srcRect l="25214" r="25214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1143000" y="3335095"/>
            <a:ext cx="81726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lang="en-US" sz="5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КЕЙС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143000" y="4671154"/>
            <a:ext cx="81726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800"/>
              <a:buFont typeface="Arial"/>
              <a:buNone/>
            </a:pPr>
            <a:r>
              <a:rPr lang="en-US" sz="5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ИЗ ПРАКТИКИ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43000" y="5886450"/>
            <a:ext cx="476250" cy="381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9" descr="preencoded.png"/>
          <p:cNvPicPr preferRelativeResize="0"/>
          <p:nvPr/>
        </p:nvPicPr>
        <p:blipFill rotWithShape="1">
          <a:blip r:embed="rId3">
            <a:alphaModFix/>
          </a:blip>
          <a:srcRect l="5858" r="5858"/>
          <a:stretch/>
        </p:blipFill>
        <p:spPr>
          <a:xfrm>
            <a:off x="12192000" y="0"/>
            <a:ext cx="6096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5011500" y="3195659"/>
            <a:ext cx="2169000" cy="819300"/>
          </a:xfrm>
          <a:prstGeom prst="rect">
            <a:avLst/>
          </a:prstGeom>
          <a:noFill/>
          <a:ln w="19050" cap="flat" cmpd="sng">
            <a:solidFill>
              <a:srgbClr val="FF2D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5199725" y="3423741"/>
            <a:ext cx="18426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350"/>
              <a:buFont typeface="Arial"/>
              <a:buNone/>
            </a:pPr>
            <a:r>
              <a:rPr lang="en-US" sz="24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875276" y="4395800"/>
            <a:ext cx="48378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Как чувства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661724" y="5489125"/>
            <a:ext cx="31143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меняют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5053000" y="6441950"/>
            <a:ext cx="24606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5400"/>
              <a:buFont typeface="Arial"/>
              <a:buNone/>
            </a:pPr>
            <a:r>
              <a:rPr lang="en-US" sz="6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голос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/>
          <p:nvPr/>
        </p:nvSpPr>
        <p:spPr>
          <a:xfrm>
            <a:off x="3330922" y="9590088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0" descr="preencoded.png"/>
          <p:cNvPicPr preferRelativeResize="0"/>
          <p:nvPr/>
        </p:nvPicPr>
        <p:blipFill rotWithShape="1">
          <a:blip r:embed="rId3">
            <a:alphaModFix/>
          </a:blip>
          <a:srcRect l="340" r="34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/>
          <p:nvPr/>
        </p:nvSpPr>
        <p:spPr>
          <a:xfrm>
            <a:off x="7620000" y="1596687"/>
            <a:ext cx="108966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«Я стою на сцене»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7620000" y="3014663"/>
            <a:ext cx="57150" cy="11525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7943850" y="3080245"/>
            <a:ext cx="10247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700"/>
              <a:buFont typeface="Arial"/>
              <a:buNone/>
            </a:pPr>
            <a:r>
              <a:rPr lang="en-US" sz="4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РАДОСТЬ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943850" y="3712643"/>
            <a:ext cx="10247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яркий, звонкий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7620000" y="4433888"/>
            <a:ext cx="57150" cy="1152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7944750" y="4499320"/>
            <a:ext cx="10247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9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ГРУСТЬ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943850" y="5131868"/>
            <a:ext cx="10247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мягкий, тёплый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7620000" y="5853113"/>
            <a:ext cx="57150" cy="11525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7943850" y="5949924"/>
            <a:ext cx="10247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700"/>
              <a:buFont typeface="Arial"/>
              <a:buNone/>
            </a:pPr>
            <a:r>
              <a:rPr lang="en-US" sz="4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ЗЛОСТЬ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943850" y="6566707"/>
            <a:ext cx="10247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мощный, резкий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620000" y="7272338"/>
            <a:ext cx="57150" cy="1152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7943850" y="7353535"/>
            <a:ext cx="10247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4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НЕЖНОСТЬ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943850" y="7970317"/>
            <a:ext cx="10247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тёплый, обволакивающий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8059500" y="3575782"/>
            <a:ext cx="2169000" cy="734400"/>
          </a:xfrm>
          <a:prstGeom prst="rect">
            <a:avLst/>
          </a:prstGeom>
          <a:noFill/>
          <a:ln w="19050" cap="flat" cmpd="sng">
            <a:solidFill>
              <a:srgbClr val="FF2D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8181395" y="3763162"/>
            <a:ext cx="19212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350"/>
              <a:buFont typeface="Arial"/>
              <a:buNone/>
            </a:pPr>
            <a:r>
              <a:rPr lang="en-US" sz="24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6676556" y="4691063"/>
            <a:ext cx="49347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Как чувства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5359338" y="5567363"/>
            <a:ext cx="7569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меняют </a:t>
            </a:r>
            <a:r>
              <a:rPr lang="en-US" sz="6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язык тела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-914400" y="332282"/>
            <a:ext cx="201168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«Я стою на сцене»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2" descr="preencoded.png"/>
          <p:cNvPicPr preferRelativeResize="0"/>
          <p:nvPr/>
        </p:nvPicPr>
        <p:blipFill rotWithShape="1">
          <a:blip r:embed="rId3">
            <a:alphaModFix/>
          </a:blip>
          <a:srcRect l="-27012" r="-27012"/>
          <a:stretch/>
        </p:blipFill>
        <p:spPr>
          <a:xfrm>
            <a:off x="762000" y="1333500"/>
            <a:ext cx="16764000" cy="73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/>
          <p:nvPr/>
        </p:nvSpPr>
        <p:spPr>
          <a:xfrm>
            <a:off x="84683" y="8639175"/>
            <a:ext cx="6039594" cy="571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"/>
          <p:cNvSpPr/>
          <p:nvPr/>
        </p:nvSpPr>
        <p:spPr>
          <a:xfrm>
            <a:off x="627524" y="8690704"/>
            <a:ext cx="61407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n-US" sz="40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СТРАХ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58753" y="9197402"/>
            <a:ext cx="61407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тело сжимается, руки прячутся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6124277" y="8639175"/>
            <a:ext cx="6039594" cy="5715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6073758" y="8690704"/>
            <a:ext cx="61407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4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СМЕЛОСТЬ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6073758" y="9213017"/>
            <a:ext cx="61407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грудь открыта, взгляд прямой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12163871" y="8639175"/>
            <a:ext cx="6039594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11254540" y="8706318"/>
            <a:ext cx="61407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en-US" sz="4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РАДОСТЬ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11504377" y="9213017"/>
            <a:ext cx="61407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тело лёгкое, жесты открытые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3" descr="preencoded.png"/>
          <p:cNvPicPr preferRelativeResize="0"/>
          <p:nvPr/>
        </p:nvPicPr>
        <p:blipFill rotWithShape="1">
          <a:blip r:embed="rId3">
            <a:alphaModFix/>
          </a:blip>
          <a:srcRect l="8617" r="8617"/>
          <a:stretch/>
        </p:blipFill>
        <p:spPr>
          <a:xfrm>
            <a:off x="12573000" y="0"/>
            <a:ext cx="5715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1143000" y="3948112"/>
            <a:ext cx="5715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1143000" y="4338638"/>
            <a:ext cx="1194435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Сценическое волнение: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1143000" y="5442591"/>
            <a:ext cx="119445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lnSpc>
                <a:spcPct val="110000"/>
              </a:lnSpc>
              <a:buClr>
                <a:srgbClr val="1A1A1A"/>
              </a:buClr>
              <a:buSzPts val="4800"/>
            </a:pPr>
            <a:r>
              <a:rPr lang="en-US" sz="6000" b="1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враг</a:t>
            </a:r>
            <a:r>
              <a:rPr lang="en-US" sz="6000" b="1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1" i="0" u="none" strike="noStrike" cap="none" dirty="0" err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или</a:t>
            </a:r>
            <a:r>
              <a:rPr lang="ru-RU" sz="6000" b="1" i="0" u="none" strike="noStrike" cap="none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6000" b="1" dirty="0">
                <a:solidFill>
                  <a:srgbClr val="FF2D78"/>
                </a:solidFill>
              </a:rPr>
              <a:t>друг</a:t>
            </a:r>
            <a:r>
              <a:rPr lang="ru-RU" sz="6000" b="1" i="0" u="none" strike="noStrike" cap="none" dirty="0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ru-RU" sz="6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endParaRPr sz="6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143000" y="6437261"/>
            <a:ext cx="119445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800"/>
              <a:buFont typeface="Arial"/>
              <a:buNone/>
            </a:pPr>
            <a:endParaRPr sz="6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4" descr="preencoded.png"/>
          <p:cNvPicPr preferRelativeResize="0"/>
          <p:nvPr/>
        </p:nvPicPr>
        <p:blipFill rotWithShape="1">
          <a:blip r:embed="rId3">
            <a:alphaModFix/>
          </a:blip>
          <a:srcRect l="1720" r="1720"/>
          <a:stretch/>
        </p:blipFill>
        <p:spPr>
          <a:xfrm>
            <a:off x="0" y="0"/>
            <a:ext cx="66675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/>
        </p:nvSpPr>
        <p:spPr>
          <a:xfrm>
            <a:off x="7429500" y="1557806"/>
            <a:ext cx="103995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lang="en-US" sz="5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Что происходит в мозге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7429500" y="3243263"/>
            <a:ext cx="10096500" cy="1733550"/>
          </a:xfrm>
          <a:prstGeom prst="rect">
            <a:avLst/>
          </a:prstGeom>
          <a:solidFill>
            <a:srgbClr val="FF2D78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7429500" y="3243263"/>
            <a:ext cx="47625" cy="173355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7781925" y="3360686"/>
            <a:ext cx="10383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950"/>
              <a:buFont typeface="Arial"/>
              <a:buNone/>
            </a:pPr>
            <a:r>
              <a:rPr lang="en-US" sz="30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«СТОРОЖ»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7781925" y="4001047"/>
            <a:ext cx="10383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Миндалевидное тело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7781925" y="4428111"/>
            <a:ext cx="10383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Arial"/>
              <a:buNone/>
            </a:pPr>
            <a:r>
              <a:rPr lang="en-US" sz="3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Опасность! Замри! Контролируй всё!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7734300" y="5319713"/>
            <a:ext cx="108013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7429500" y="5824552"/>
            <a:ext cx="10096500" cy="2438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4"/>
          <p:cNvSpPr/>
          <p:nvPr/>
        </p:nvSpPr>
        <p:spPr>
          <a:xfrm flipH="1">
            <a:off x="7477125" y="5824550"/>
            <a:ext cx="47700" cy="2438400"/>
          </a:xfrm>
          <a:prstGeom prst="rect">
            <a:avLst/>
          </a:prstGeom>
          <a:solidFill>
            <a:srgbClr val="1A1A1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7781925" y="5973190"/>
            <a:ext cx="10383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lang="en-US" sz="3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«РЕЖИССЁР»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7781975" y="6547657"/>
            <a:ext cx="10383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Префронтальная кора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781925" y="7056230"/>
            <a:ext cx="972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Arial"/>
              <a:buNone/>
            </a:pPr>
            <a:r>
              <a:rPr lang="en-US" sz="30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Я рассказываю историю! Я хочу, чтобы зритель это почувствовал!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7734300" y="8778225"/>
            <a:ext cx="10801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Arial"/>
              <a:buNone/>
            </a:pPr>
            <a:r>
              <a:rPr lang="en-US" sz="28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Когда «режиссёр» активен </a:t>
            </a:r>
            <a:r>
              <a:rPr lang="en-US" sz="2850">
                <a:solidFill>
                  <a:srgbClr val="1A1A1A"/>
                </a:solidFill>
              </a:rPr>
              <a:t>-</a:t>
            </a:r>
            <a:r>
              <a:rPr lang="en-US" sz="28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он </a:t>
            </a:r>
            <a:r>
              <a:rPr lang="en-US" sz="2850">
                <a:solidFill>
                  <a:srgbClr val="1A1A1A"/>
                </a:solidFill>
              </a:rPr>
              <a:t>управляет сигналом</a:t>
            </a:r>
            <a:r>
              <a:rPr lang="en-US" sz="28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страха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4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6013854" y="3162300"/>
            <a:ext cx="6260143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300"/>
              <a:buFont typeface="Arial"/>
              <a:buNone/>
            </a:pPr>
            <a:r>
              <a:rPr lang="en-US" sz="6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Мозг не может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4016737" y="4076700"/>
            <a:ext cx="10254526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300"/>
              <a:buFont typeface="Arial"/>
              <a:buNone/>
            </a:pPr>
            <a:r>
              <a:rPr lang="en-US" sz="6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одновременно </a:t>
            </a:r>
            <a:r>
              <a:rPr lang="en-US" sz="63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бояться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4136090" y="4991100"/>
            <a:ext cx="10015671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300"/>
              <a:buFont typeface="Arial"/>
              <a:buNone/>
            </a:pPr>
            <a:r>
              <a:rPr lang="en-US" sz="63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и испытывать </a:t>
            </a:r>
            <a:r>
              <a:rPr lang="en-US" sz="63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интерес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8763000" y="6362700"/>
            <a:ext cx="762000" cy="381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2685750" y="6796133"/>
            <a:ext cx="13397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Arial"/>
              <a:buNone/>
            </a:pPr>
            <a:r>
              <a:rPr lang="en-US" sz="30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Когда внимание направлено на историю</a:t>
            </a:r>
            <a:r>
              <a:rPr lang="en-US" sz="3050">
                <a:solidFill>
                  <a:srgbClr val="1A1A1A"/>
                </a:solidFill>
              </a:rPr>
              <a:t>,</a:t>
            </a:r>
            <a:r>
              <a:rPr lang="en-US" sz="30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для страха не остаётся места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6" descr="preencoded.png"/>
          <p:cNvPicPr preferRelativeResize="0"/>
          <p:nvPr/>
        </p:nvPicPr>
        <p:blipFill rotWithShape="1">
          <a:blip r:embed="rId3">
            <a:alphaModFix/>
          </a:blip>
          <a:srcRect t="-36453" b="-36453"/>
          <a:stretch/>
        </p:blipFill>
        <p:spPr>
          <a:xfrm>
            <a:off x="0" y="0"/>
            <a:ext cx="1066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/>
          <p:nvPr/>
        </p:nvSpPr>
        <p:spPr>
          <a:xfrm>
            <a:off x="11239500" y="3538538"/>
            <a:ext cx="5715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11239500" y="3929063"/>
            <a:ext cx="7124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Один вопрос,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11239500" y="4633913"/>
            <a:ext cx="7124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который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11239500" y="5338763"/>
            <a:ext cx="7124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меняет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11239500" y="6043613"/>
            <a:ext cx="7124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выступление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7" descr="preencoded.png"/>
          <p:cNvPicPr preferRelativeResize="0"/>
          <p:nvPr/>
        </p:nvPicPr>
        <p:blipFill rotWithShape="1">
          <a:blip r:embed="rId3">
            <a:alphaModFix/>
          </a:blip>
          <a:srcRect l="29345" r="29345"/>
          <a:stretch/>
        </p:blipFill>
        <p:spPr>
          <a:xfrm>
            <a:off x="10668000" y="0"/>
            <a:ext cx="7620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/>
          <p:nvPr/>
        </p:nvSpPr>
        <p:spPr>
          <a:xfrm>
            <a:off x="1143000" y="3593736"/>
            <a:ext cx="9849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200"/>
              <a:buFont typeface="Arial"/>
              <a:buNone/>
            </a:pPr>
            <a:r>
              <a:rPr lang="en-US" sz="5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Что я хочу,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1143000" y="4484401"/>
            <a:ext cx="9849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200"/>
              <a:buFont typeface="Arial"/>
              <a:buNone/>
            </a:pPr>
            <a:r>
              <a:rPr lang="en-US" sz="5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чтобы зритель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1143000" y="5343837"/>
            <a:ext cx="9849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200"/>
              <a:buFont typeface="Arial"/>
              <a:buNone/>
            </a:pPr>
            <a:r>
              <a:rPr lang="en-US" sz="5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почувствовал?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1143000" y="6492459"/>
            <a:ext cx="984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Задай себе этот вопрос перед выходом на сцену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/>
          <p:nvPr/>
        </p:nvSpPr>
        <p:spPr>
          <a:xfrm>
            <a:off x="1524000" y="504825"/>
            <a:ext cx="2460600" cy="647700"/>
          </a:xfrm>
          <a:prstGeom prst="rect">
            <a:avLst/>
          </a:prstGeom>
          <a:noFill/>
          <a:ln w="19050" cap="flat" cmpd="sng">
            <a:solidFill>
              <a:srgbClr val="FF2D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1693576" y="607414"/>
            <a:ext cx="22569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350"/>
              <a:buFont typeface="Arial"/>
              <a:buNone/>
            </a:pPr>
            <a:r>
              <a:rPr lang="en-US" sz="30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1524000" y="1376128"/>
            <a:ext cx="167640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Спой соседу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1524000" y="2619375"/>
            <a:ext cx="609600" cy="6096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1485900" y="261937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2400300" y="2724150"/>
            <a:ext cx="4173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Повернись к соседу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1524000" y="3533775"/>
            <a:ext cx="609600" cy="609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1485900" y="353377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2400300" y="3638550"/>
            <a:ext cx="80304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Осознай основное чувство из твоей песни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1524000" y="4448175"/>
            <a:ext cx="609600" cy="6096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1485900" y="444817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400300" y="4552950"/>
            <a:ext cx="7077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Спой 2</a:t>
            </a:r>
            <a:r>
              <a:rPr lang="en-US" sz="3000">
                <a:solidFill>
                  <a:srgbClr val="1A1A1A"/>
                </a:solidFill>
              </a:rPr>
              <a:t>-</a:t>
            </a: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строчки из этого состояния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524000" y="5362575"/>
            <a:ext cx="609600" cy="609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1485900" y="536257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2400300" y="5467350"/>
            <a:ext cx="68904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Сосед даёт обратную связь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524000" y="6276975"/>
            <a:ext cx="609600" cy="6096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1485900" y="627697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2400300" y="6381750"/>
            <a:ext cx="10903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Поменяйтесь ролями </a:t>
            </a:r>
            <a:r>
              <a:rPr lang="en-US" sz="3000">
                <a:solidFill>
                  <a:srgbClr val="1A1A1A"/>
                </a:solidFill>
              </a:rPr>
              <a:t>-</a:t>
            </a: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теперь он поёт, а ты слушаешь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6774619" y="3234675"/>
            <a:ext cx="4738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650"/>
              <a:buFont typeface="Arial"/>
              <a:buNone/>
            </a:pPr>
            <a:r>
              <a:rPr lang="en-US" sz="24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ПРАВИЛО ОБРАТНОЙ СВЯЗИ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3778538" y="4220590"/>
            <a:ext cx="107310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«Я почувствовал(а)...»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8667750" y="5757863"/>
            <a:ext cx="9525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6492701" y="6342636"/>
            <a:ext cx="5302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Говори только про чувства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1905000" y="4090987"/>
            <a:ext cx="5715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1905000" y="4441539"/>
            <a:ext cx="15925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Первый шаг сделан.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905000" y="5763797"/>
            <a:ext cx="15925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1" descr="preencoded.png"/>
          <p:cNvPicPr preferRelativeResize="0"/>
          <p:nvPr/>
        </p:nvPicPr>
        <p:blipFill rotWithShape="1">
          <a:blip r:embed="rId3">
            <a:alphaModFix/>
          </a:blip>
          <a:srcRect l="1720" r="1720"/>
          <a:stretch/>
        </p:blipFill>
        <p:spPr>
          <a:xfrm>
            <a:off x="11620500" y="0"/>
            <a:ext cx="66675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/>
          <p:nvPr/>
        </p:nvSpPr>
        <p:spPr>
          <a:xfrm>
            <a:off x="1143000" y="1293292"/>
            <a:ext cx="108966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15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МИНИ-КУРС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143000" y="2008292"/>
            <a:ext cx="108966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500"/>
              <a:buFont typeface="Arial"/>
              <a:buNone/>
            </a:pPr>
            <a:r>
              <a:rPr lang="en-US" sz="5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СУПЕРСИЛА </a:t>
            </a:r>
            <a:r>
              <a:rPr lang="en-US" sz="5000" b="1">
                <a:solidFill>
                  <a:srgbClr val="FF2D78"/>
                </a:solidFill>
              </a:rPr>
              <a:t>АРТИСТА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143000" y="3319463"/>
            <a:ext cx="1089660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4500"/>
              <a:buFont typeface="Arial"/>
              <a:buNone/>
            </a:pP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1143000" y="3157226"/>
            <a:ext cx="10896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Arial"/>
              <a:buNone/>
            </a:pPr>
            <a:r>
              <a:rPr lang="en-US" sz="30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 онлайн-практикума + 3 недели в закрытом клубе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142925" y="4263770"/>
            <a:ext cx="95400" cy="95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1390650" y="4098175"/>
            <a:ext cx="5527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lang="en-US" sz="2450">
                <a:solidFill>
                  <a:srgbClr val="1A1A1A"/>
                </a:solidFill>
              </a:rPr>
              <a:t>Стань героем</a:t>
            </a: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сво</a:t>
            </a:r>
            <a:r>
              <a:rPr lang="en-US" sz="2450">
                <a:solidFill>
                  <a:srgbClr val="1A1A1A"/>
                </a:solidFill>
              </a:rPr>
              <a:t>ей</a:t>
            </a: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истори</a:t>
            </a:r>
            <a:r>
              <a:rPr lang="en-US" sz="2450">
                <a:solidFill>
                  <a:srgbClr val="1A1A1A"/>
                </a:solidFill>
              </a:rPr>
              <a:t>и</a:t>
            </a: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в песне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143000" y="4933794"/>
            <a:ext cx="95400" cy="95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1390650" y="4802575"/>
            <a:ext cx="6245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Создай эмоциональную карту </a:t>
            </a:r>
            <a:r>
              <a:rPr lang="en-US" sz="2450">
                <a:solidFill>
                  <a:srgbClr val="1A1A1A"/>
                </a:solidFill>
              </a:rPr>
              <a:t>песни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1143000" y="5606946"/>
            <a:ext cx="95400" cy="95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1390650" y="5460102"/>
            <a:ext cx="5308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Открой свою суперсилу артиста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143000" y="6248868"/>
            <a:ext cx="95400" cy="95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1390650" y="6117650"/>
            <a:ext cx="9300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Выходи на сцену из </a:t>
            </a:r>
            <a:r>
              <a:rPr lang="en-US" sz="2450">
                <a:solidFill>
                  <a:srgbClr val="1A1A1A"/>
                </a:solidFill>
              </a:rPr>
              <a:t>удовольствия, а не из </a:t>
            </a:r>
            <a:r>
              <a:rPr lang="en-US" sz="245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чувства страха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1143000" y="7081838"/>
            <a:ext cx="2112169" cy="990600"/>
          </a:xfrm>
          <a:prstGeom prst="rect">
            <a:avLst/>
          </a:prstGeom>
          <a:solidFill>
            <a:srgbClr val="FF2D78">
              <a:alpha val="14901"/>
            </a:srgbClr>
          </a:solidFill>
          <a:ln w="19050" cap="flat" cmpd="sng">
            <a:solidFill>
              <a:srgbClr val="FF2D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1435537" y="7182085"/>
            <a:ext cx="15270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Arial"/>
              <a:buNone/>
            </a:pPr>
            <a:r>
              <a:rPr lang="en-US" sz="2025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СТАРТ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238400" y="7510450"/>
            <a:ext cx="19212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30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2 августа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483769" y="7081838"/>
            <a:ext cx="1598116" cy="990600"/>
          </a:xfrm>
          <a:prstGeom prst="rect">
            <a:avLst/>
          </a:prstGeom>
          <a:noFill/>
          <a:ln w="19050" cap="flat" cmpd="sng">
            <a:solidFill>
              <a:srgbClr val="FFFFFF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3673479" y="7356070"/>
            <a:ext cx="1493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2400" b="1">
                <a:solidFill>
                  <a:srgbClr val="1A1A1A"/>
                </a:solidFill>
              </a:rPr>
              <a:t>-</a:t>
            </a:r>
            <a:r>
              <a:rPr lang="en-US" sz="2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14 лет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310485" y="7081838"/>
            <a:ext cx="1035546" cy="990600"/>
          </a:xfrm>
          <a:prstGeom prst="rect">
            <a:avLst/>
          </a:prstGeom>
          <a:noFill/>
          <a:ln w="19050" cap="flat" cmpd="sng">
            <a:solidFill>
              <a:srgbClr val="FFFFFF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546592" y="7393668"/>
            <a:ext cx="58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15+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2" descr="preencoded.png"/>
          <p:cNvPicPr preferRelativeResize="0"/>
          <p:nvPr/>
        </p:nvPicPr>
        <p:blipFill rotWithShape="1">
          <a:blip r:embed="rId3">
            <a:alphaModFix/>
          </a:blip>
          <a:srcRect l="25214" r="25214"/>
          <a:stretch/>
        </p:blipFill>
        <p:spPr>
          <a:xfrm>
            <a:off x="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10995787" y="3314700"/>
            <a:ext cx="5440278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СПАСИБО!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13335000" y="4819650"/>
            <a:ext cx="762000" cy="47625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11643050" y="5248275"/>
            <a:ext cx="43365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Мария Осадчая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12094250" y="5850355"/>
            <a:ext cx="338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lang="en-US" sz="2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вокальный психолог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02825" y="6249403"/>
            <a:ext cx="64170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lang="en-US" sz="2200" b="0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наставник Музыкальной академии Ларисы Долиной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2545139" y="7011904"/>
            <a:ext cx="2341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8-918-662-36-14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1542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/>
          <p:nvPr/>
        </p:nvSpPr>
        <p:spPr>
          <a:xfrm>
            <a:off x="15479464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2D78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2D78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"/>
          <p:cNvSpPr/>
          <p:nvPr/>
        </p:nvSpPr>
        <p:spPr>
          <a:xfrm>
            <a:off x="7160642" y="2933700"/>
            <a:ext cx="396671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ДЛЯ УЧАСТНИКОВ ФОРУМА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8667750" y="4686300"/>
            <a:ext cx="952500" cy="381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6220420" y="6400800"/>
            <a:ext cx="2831604" cy="952500"/>
          </a:xfrm>
          <a:prstGeom prst="rect">
            <a:avLst/>
          </a:prstGeom>
          <a:solidFill>
            <a:srgbClr val="000000">
              <a:alpha val="14901"/>
            </a:srgbClr>
          </a:solidFill>
          <a:ln w="19050" cap="flat" cmpd="sng">
            <a:solidFill>
              <a:srgbClr val="1A1A1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9356824" y="6400800"/>
            <a:ext cx="2710755" cy="952500"/>
          </a:xfrm>
          <a:prstGeom prst="rect">
            <a:avLst/>
          </a:prstGeom>
          <a:solidFill>
            <a:srgbClr val="000000">
              <a:alpha val="14901"/>
            </a:srgbClr>
          </a:solidFill>
          <a:ln w="19050" cap="flat" cmpd="sng">
            <a:solidFill>
              <a:srgbClr val="1A1A1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Google Shape;326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9691688"/>
            <a:ext cx="192122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/>
          <p:nvPr/>
        </p:nvSpPr>
        <p:spPr>
          <a:xfrm>
            <a:off x="3330922" y="9667875"/>
            <a:ext cx="2460739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ДНК АРТИСТА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Произвольный</PresentationFormat>
  <Paragraphs>151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Dmitry Osadchy</dc:creator>
  <cp:lastModifiedBy>Osadchy Dmitry</cp:lastModifiedBy>
  <cp:revision>1</cp:revision>
  <dcterms:modified xsi:type="dcterms:W3CDTF">2026-07-02T15:49:13Z</dcterms:modified>
</cp:coreProperties>
</file>